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1C315A-6C75-4285-B6F8-362B1F09382B}" v="3" dt="2026-07-14T06:06:30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RJEET KUMAR" userId="7bcf56c846382324" providerId="LiveId" clId="{D2829DFB-1D23-4C20-9B5F-449D96D9090D}"/>
    <pc:docChg chg="modSld">
      <pc:chgData name="AMARJEET KUMAR" userId="7bcf56c846382324" providerId="LiveId" clId="{D2829DFB-1D23-4C20-9B5F-449D96D9090D}" dt="2026-07-14T06:06:30.041" v="2"/>
      <pc:docMkLst>
        <pc:docMk/>
      </pc:docMkLst>
      <pc:sldChg chg="modTransition">
        <pc:chgData name="AMARJEET KUMAR" userId="7bcf56c846382324" providerId="LiveId" clId="{D2829DFB-1D23-4C20-9B5F-449D96D9090D}" dt="2026-07-14T06:06:06.543" v="0"/>
        <pc:sldMkLst>
          <pc:docMk/>
          <pc:sldMk cId="0" sldId="257"/>
        </pc:sldMkLst>
      </pc:sldChg>
      <pc:sldChg chg="modTransition">
        <pc:chgData name="AMARJEET KUMAR" userId="7bcf56c846382324" providerId="LiveId" clId="{D2829DFB-1D23-4C20-9B5F-449D96D9090D}" dt="2026-07-14T06:06:11.802" v="1"/>
        <pc:sldMkLst>
          <pc:docMk/>
          <pc:sldMk cId="0" sldId="258"/>
        </pc:sldMkLst>
      </pc:sldChg>
      <pc:sldChg chg="modTransition">
        <pc:chgData name="AMARJEET KUMAR" userId="7bcf56c846382324" providerId="LiveId" clId="{D2829DFB-1D23-4C20-9B5F-449D96D9090D}" dt="2026-07-14T06:06:30.041" v="2"/>
        <pc:sldMkLst>
          <pc:docMk/>
          <pc:sldMk cId="0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748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914400"/>
            <a:ext cx="4754880" cy="4754880"/>
          </a:xfrm>
          <a:prstGeom prst="ellipse">
            <a:avLst/>
          </a:prstGeom>
          <a:ln w="15875">
            <a:solidFill>
              <a:srgbClr val="2440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554480"/>
            <a:ext cx="3474720" cy="3474720"/>
          </a:xfrm>
          <a:prstGeom prst="ellipse">
            <a:avLst/>
          </a:prstGeom>
          <a:ln w="15875">
            <a:solidFill>
              <a:srgbClr val="2440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2194560"/>
            <a:ext cx="2194560" cy="2194560"/>
          </a:xfrm>
          <a:prstGeom prst="ellipse">
            <a:avLst/>
          </a:prstGeom>
          <a:ln w="15875">
            <a:solidFill>
              <a:srgbClr val="2440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12096" y="3236976"/>
            <a:ext cx="109728" cy="1097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6" name="Shape 4"/>
          <p:cNvSpPr/>
          <p:nvPr/>
        </p:nvSpPr>
        <p:spPr>
          <a:xfrm rot="2100000">
            <a:off x="9966960" y="914400"/>
            <a:ext cx="0" cy="2377440"/>
          </a:xfrm>
          <a:prstGeom prst="line">
            <a:avLst/>
          </a:prstGeom>
          <a:noFill/>
          <a:ln w="22225">
            <a:solidFill>
              <a:srgbClr val="F5B9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AIR TRAFFIC CONTROL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8686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MYSTIGEM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Advanced Multi-Threaded Hybrid Air Traffic Control</a:t>
            </a:r>
            <a:endParaRPr lang="en-US" sz="1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Radar Simulation Framework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4206240" cy="22860"/>
          </a:xfrm>
          <a:prstGeom prst="rect">
            <a:avLst/>
          </a:prstGeom>
          <a:solidFill>
            <a:srgbClr val="2A466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51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
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Amarjeet Kumar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25MCA20155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42519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
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Institute of Computing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 University, Mohali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ATC Software Has Four Systemic Gaps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flight volumes grow, monolithic tracking tools that mix rendering and computation on one thread fall behind — with real safety consequences.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88336" cy="3703320"/>
          </a:xfrm>
          <a:prstGeom prst="roundRect">
            <a:avLst>
              <a:gd name="adj" fmla="val 2721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77440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326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774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3090672"/>
            <a:ext cx="22311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Monolithic Thread Contention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858768"/>
            <a:ext cx="223113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drawing and O(N²) distance checks share one thread, so refresh rate collapses under peak traffic.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19856" y="2103120"/>
            <a:ext cx="2688336" cy="3703320"/>
          </a:xfrm>
          <a:prstGeom prst="roundRect">
            <a:avLst>
              <a:gd name="adj" fmla="val 2721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48456" y="2377440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879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48456" y="23774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48456" y="3090672"/>
            <a:ext cx="22311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Obscured Emergency Hierarchy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48456" y="3858768"/>
            <a:ext cx="223113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aircraft render like normal traffic, forcing controllers to parse text under stress.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91072" y="2103120"/>
            <a:ext cx="2688336" cy="3703320"/>
          </a:xfrm>
          <a:prstGeom prst="roundRect">
            <a:avLst>
              <a:gd name="adj" fmla="val 2721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19672" y="2377440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F6E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23774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19672" y="3090672"/>
            <a:ext cx="22311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Workflows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19672" y="3858768"/>
            <a:ext cx="223113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Tracking, route optimization, and diagnostics live in separate disjointed tools.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62288" y="2103120"/>
            <a:ext cx="2688336" cy="3703320"/>
          </a:xfrm>
          <a:prstGeom prst="roundRect">
            <a:avLst>
              <a:gd name="adj" fmla="val 2721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90888" y="2377440"/>
            <a:ext cx="530352" cy="53035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7A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90888" y="23774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90888" y="3090672"/>
            <a:ext cx="22311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Passive Alerting Only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90888" y="3858768"/>
            <a:ext cx="223113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are flagged visually but resolution is left entirely to manual radio calls.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BACKGROUND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Split-Runtime Architecture, By Design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Mystigem cleanly decouples the visual radar console from low-level algorithmic work, running each in its own process space so neither competes for the same CPU cycles.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43784"/>
            <a:ext cx="64008" cy="822960"/>
          </a:xfrm>
          <a:prstGeom prst="rect">
            <a:avLst/>
          </a:prstGeom>
          <a:solidFill>
            <a:srgbClr val="0F6E6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88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Tkinter 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13639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radar canvas, live OpenSky API ingestion, dark tactical display.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867912"/>
            <a:ext cx="64008" cy="822960"/>
          </a:xfrm>
          <a:prstGeom prst="rect">
            <a:avLst/>
          </a:prstGeom>
          <a:solidFill>
            <a:srgbClr val="0F6E6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130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C++ Backend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Duplicate-ID hashing, LRU cache trace, and BFS route optimization at compiled speed.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64008" cy="822960"/>
          </a:xfrm>
          <a:prstGeom prst="rect">
            <a:avLst/>
          </a:prstGeom>
          <a:solidFill>
            <a:srgbClr val="0F6E6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3717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Inter-Process Pipe Bridge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18464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stdin/stdout text streaming keeps both runtimes in sync without stalling frames.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5394960" cy="4892040"/>
          </a:xfrm>
          <a:prstGeom prst="roundRect">
            <a:avLst>
              <a:gd name="adj" fmla="val 1495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1828800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0F6E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1883664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OpenSky Network API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75120" y="2194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transponder JSON feed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915400" y="2487168"/>
            <a:ext cx="0" cy="411480"/>
          </a:xfrm>
          <a:prstGeom prst="line">
            <a:avLst/>
          </a:prstGeom>
          <a:noFill/>
          <a:ln w="19050">
            <a:solidFill>
              <a:srgbClr val="3F4B5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583680" y="2898648"/>
            <a:ext cx="4663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2225">
            <a:solidFill>
              <a:srgbClr val="1E7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953512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UI Controller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75120" y="326440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20Hz frame loop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589520" y="3557016"/>
            <a:ext cx="0" cy="502920"/>
          </a:xfrm>
          <a:prstGeom prst="line">
            <a:avLst/>
          </a:prstGeom>
          <a:noFill/>
          <a:ln w="19050">
            <a:solidFill>
              <a:srgbClr val="3F4B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41280" y="3557016"/>
            <a:ext cx="822960" cy="502920"/>
          </a:xfrm>
          <a:prstGeom prst="line">
            <a:avLst/>
          </a:prstGeom>
          <a:noFill/>
          <a:ln w="19050">
            <a:solidFill>
              <a:srgbClr val="3F4B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4105656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B879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160520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C++ Core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75120" y="447141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dedup · BFS routing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006840" y="4105656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2225">
            <a:solidFill>
              <a:srgbClr val="B326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8280" y="4160520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Canvas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098280" y="447141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rings · collision UI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92240" y="6035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(adapted): System Operational Console Architecture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DESIGN &amp; 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Flow &amp; System Blueprint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9050">
            <a:solidFill>
              <a:srgbClr val="1E7A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MONITORING LAYER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75688"/>
            <a:ext cx="235458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2167128"/>
            <a:ext cx="2135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Canvas Loop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95528" y="2478024"/>
            <a:ext cx="2135124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–"/>
            </a:pPr>
            <a:r>
              <a:rPr lang="en-US" sz="10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radar rings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–"/>
            </a:pPr>
            <a:r>
              <a:rPr lang="en-US" sz="10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target icons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–"/>
            </a:pPr>
            <a:r>
              <a:rPr lang="en-US" sz="10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status text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7540" y="2075688"/>
            <a:ext cx="235458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87268" y="2167128"/>
            <a:ext cx="21351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Monitor Loop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87268" y="2478024"/>
            <a:ext cx="2135124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–"/>
            </a:pPr>
            <a:r>
              <a:rPr lang="en-US" sz="10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space deltas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–"/>
            </a:pPr>
            <a:r>
              <a:rPr lang="en-US" sz="10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separations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–"/>
            </a:pPr>
            <a:r>
              <a:rPr lang="en-US" sz="10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angle vectors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572768"/>
            <a:ext cx="5349240" cy="2377440"/>
          </a:xfrm>
          <a:prstGeom prst="roundRect">
            <a:avLst>
              <a:gd name="adj" fmla="val 3077"/>
            </a:avLst>
          </a:prstGeom>
          <a:solidFill>
            <a:srgbClr val="F4F6F8"/>
          </a:solidFill>
          <a:ln w="19050">
            <a:solidFill>
              <a:srgbClr val="B879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3736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COMPILED C++ 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2139696"/>
            <a:ext cx="480060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▸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2 → Duplicate transponder ID hashing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▸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3 → Aircraft operational contexts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▸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4 → Signal status audits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▸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5 → Radar footprint / LRU trace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▸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6 → BFS shortest airway routing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97880" y="2596896"/>
            <a:ext cx="365760" cy="0"/>
          </a:xfrm>
          <a:prstGeom prst="line">
            <a:avLst/>
          </a:prstGeom>
          <a:noFill/>
          <a:ln w="28575">
            <a:solidFill>
              <a:srgbClr val="0F6E6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63640" y="2962656"/>
            <a:ext cx="0" cy="0"/>
          </a:xfrm>
          <a:prstGeom prst="line">
            <a:avLst/>
          </a:prstGeom>
          <a:noFill/>
          <a:ln w="28575">
            <a:solidFill>
              <a:srgbClr val="0F6E6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669280" y="21945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 / stdin-stdout pipe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0B1D33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 · GEOFENCED SEPARATION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773168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200 + r · cos(θ),   y = 200 + r · sin(θ)
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 = |xᵢ − xⱼ| &lt; 15   and   dy = |yᵢ − yⱼ| &lt; 15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89520" y="45720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breach trips, the system applies Δθ = ±0.55 rad and dampens speed × 0.85 — before a human operator could react.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DESIGN &amp; 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Feature Evaluation Matrix</a:t>
            </a:r>
            <a:endParaRPr lang="en-US" sz="2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03250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6E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F-01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API Vector Fetch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6E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F-02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Radial Canvas Sweep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79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6E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F-03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Separation Geofencing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Thread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6E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F-04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ID Checking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C++ 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79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6E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F-05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 Airway Optimization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C++ 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879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F6E6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F-06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Cache Modeling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C++ 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 and F-04 sit on the critical path: geofencing prevents collisions, while hashed lookups keep the tracking array free of corrupted duplicates.</a:t>
            </a:r>
            <a:endParaRPr lang="en-US" sz="1300" dirty="0"/>
          </a:p>
        </p:txBody>
      </p:sp>
      <p:sp>
        <p:nvSpPr>
          <p:cNvPr id="4" name="Text 3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BACKGROUND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Mixed Python / C++ Pipeline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EAF6EE"/>
          </a:solidFill>
          <a:ln w="25400">
            <a:solidFill>
              <a:srgbClr val="1E7A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Mystigem</a:t>
            </a:r>
            <a:endParaRPr lang="en-US" sz="17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(Python + C++)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Efficiency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77240" y="3520440"/>
            <a:ext cx="3154680" cy="0"/>
          </a:xfrm>
          <a:prstGeom prst="line">
            <a:avLst/>
          </a:prstGeom>
          <a:noFill/>
          <a:ln w="9525">
            <a:solidFill>
              <a:srgbClr val="D8DE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6118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Speed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4389120"/>
            <a:ext cx="3154680" cy="0"/>
          </a:xfrm>
          <a:prstGeom prst="line">
            <a:avLst/>
          </a:prstGeom>
          <a:noFill/>
          <a:ln w="9525">
            <a:solidFill>
              <a:srgbClr val="D8DE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48056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Flexibility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475488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77240" y="5257800"/>
            <a:ext cx="3154680" cy="0"/>
          </a:xfrm>
          <a:prstGeom prst="line">
            <a:avLst/>
          </a:prstGeom>
          <a:noFill/>
          <a:ln w="9525">
            <a:solidFill>
              <a:srgbClr val="D8DE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34924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Cycle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56235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4297680" y="164592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8745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Enterprise</a:t>
            </a:r>
            <a:endParaRPr lang="en-US" sz="17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Core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26280" y="27432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Efficiency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26280" y="301752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4526280" y="3520440"/>
            <a:ext cx="3154680" cy="0"/>
          </a:xfrm>
          <a:prstGeom prst="line">
            <a:avLst/>
          </a:prstGeom>
          <a:noFill/>
          <a:ln w="9525">
            <a:solidFill>
              <a:srgbClr val="D8DE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6118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Speed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26280" y="388620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4526280" y="4389120"/>
            <a:ext cx="3154680" cy="0"/>
          </a:xfrm>
          <a:prstGeom prst="line">
            <a:avLst/>
          </a:prstGeom>
          <a:noFill/>
          <a:ln w="9525">
            <a:solidFill>
              <a:srgbClr val="D8DE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448056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Flexibility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26280" y="475488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4526280" y="5257800"/>
            <a:ext cx="3154680" cy="0"/>
          </a:xfrm>
          <a:prstGeom prst="line">
            <a:avLst/>
          </a:prstGeom>
          <a:noFill/>
          <a:ln w="9525">
            <a:solidFill>
              <a:srgbClr val="D8DE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534924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Cycle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26280" y="56235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8046720" y="164592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187452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Frameworks</a:t>
            </a:r>
            <a:endParaRPr lang="en-US" sz="17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(Node.js/Canvas)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275320" y="274320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Efficiency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75320" y="301752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8275320" y="3520440"/>
            <a:ext cx="3154680" cy="0"/>
          </a:xfrm>
          <a:prstGeom prst="line">
            <a:avLst/>
          </a:prstGeom>
          <a:noFill/>
          <a:ln w="9525">
            <a:solidFill>
              <a:srgbClr val="D8DE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5320" y="36118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Speed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275320" y="388620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8275320" y="4389120"/>
            <a:ext cx="3154680" cy="0"/>
          </a:xfrm>
          <a:prstGeom prst="line">
            <a:avLst/>
          </a:prstGeom>
          <a:noFill/>
          <a:ln w="9525">
            <a:solidFill>
              <a:srgbClr val="D8DE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448056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Flexibility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275320" y="475488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8275320" y="5257800"/>
            <a:ext cx="3154680" cy="0"/>
          </a:xfrm>
          <a:prstGeom prst="line">
            <a:avLst/>
          </a:prstGeom>
          <a:noFill/>
          <a:ln w="9525">
            <a:solidFill>
              <a:srgbClr val="D8DE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534924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Cycle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275320" y="562356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Six-Week Development Timeline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485900" y="3246120"/>
            <a:ext cx="9189720" cy="0"/>
          </a:xfrm>
          <a:prstGeom prst="line">
            <a:avLst/>
          </a:prstGeom>
          <a:noFill/>
          <a:ln w="31750">
            <a:solidFill>
              <a:srgbClr val="D8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6172" y="3136392"/>
            <a:ext cx="219456" cy="219456"/>
          </a:xfrm>
          <a:prstGeom prst="ellipse">
            <a:avLst/>
          </a:prstGeom>
          <a:solidFill>
            <a:srgbClr val="0F6E6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5900" y="2926080"/>
            <a:ext cx="0" cy="210312"/>
          </a:xfrm>
          <a:prstGeom prst="line">
            <a:avLst/>
          </a:prstGeom>
          <a:noFill/>
          <a:ln w="15875">
            <a:solidFill>
              <a:srgbClr val="D8DEE5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17220" y="1463040"/>
            <a:ext cx="1737360" cy="146304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" y="153619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26948" y="1828800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6948" y="2286000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Geofenced separation math · IPC pipe design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4116" y="3136392"/>
            <a:ext cx="219456" cy="219456"/>
          </a:xfrm>
          <a:prstGeom prst="ellipse">
            <a:avLst/>
          </a:prstGeom>
          <a:solidFill>
            <a:srgbClr val="0F6E6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23844" y="3355848"/>
            <a:ext cx="0" cy="210312"/>
          </a:xfrm>
          <a:prstGeom prst="line">
            <a:avLst/>
          </a:prstGeom>
          <a:noFill/>
          <a:ln w="15875">
            <a:solidFill>
              <a:srgbClr val="D8DEE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455164" y="3566160"/>
            <a:ext cx="1737360" cy="146304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4892" y="363931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4892" y="3931920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Layout Engineering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4892" y="4389120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Tkinter canvas · radar sweep animation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52060" y="3136392"/>
            <a:ext cx="219456" cy="219456"/>
          </a:xfrm>
          <a:prstGeom prst="ellipse">
            <a:avLst/>
          </a:prstGeom>
          <a:solidFill>
            <a:srgbClr val="0F6E6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1788" y="2926080"/>
            <a:ext cx="0" cy="210312"/>
          </a:xfrm>
          <a:prstGeom prst="line">
            <a:avLst/>
          </a:prstGeom>
          <a:noFill/>
          <a:ln w="15875">
            <a:solidFill>
              <a:srgbClr val="D8DEE5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293108" y="1463040"/>
            <a:ext cx="1737360" cy="146304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2836" y="153619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02836" y="1828800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Multi-Runtime Bridge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02836" y="2286000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diagnostic utilities · text IPC streaming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90004" y="3136392"/>
            <a:ext cx="219456" cy="219456"/>
          </a:xfrm>
          <a:prstGeom prst="ellipse">
            <a:avLst/>
          </a:prstGeom>
          <a:solidFill>
            <a:srgbClr val="0F6E6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9732" y="3355848"/>
            <a:ext cx="0" cy="210312"/>
          </a:xfrm>
          <a:prstGeom prst="line">
            <a:avLst/>
          </a:prstGeom>
          <a:noFill/>
          <a:ln w="15875">
            <a:solidFill>
              <a:srgbClr val="D8DEE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131052" y="3566160"/>
            <a:ext cx="1737360" cy="146304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0780" y="363931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40780" y="3931920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40780" y="4389120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OpenSky live polling · offline fallback arrays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727948" y="3136392"/>
            <a:ext cx="219456" cy="219456"/>
          </a:xfrm>
          <a:prstGeom prst="ellipse">
            <a:avLst/>
          </a:prstGeom>
          <a:solidFill>
            <a:srgbClr val="0F6E6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37676" y="2926080"/>
            <a:ext cx="0" cy="210312"/>
          </a:xfrm>
          <a:prstGeom prst="line">
            <a:avLst/>
          </a:prstGeom>
          <a:noFill/>
          <a:ln w="15875">
            <a:solidFill>
              <a:srgbClr val="D8DEE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7968996" y="1463040"/>
            <a:ext cx="1737360" cy="146304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78724" y="153619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78724" y="1828800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Calibration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78724" y="2286000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tuning · dense-load alert testing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565892" y="3136392"/>
            <a:ext cx="219456" cy="219456"/>
          </a:xfrm>
          <a:prstGeom prst="ellipse">
            <a:avLst/>
          </a:prstGeom>
          <a:solidFill>
            <a:srgbClr val="0F6E6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75620" y="3355848"/>
            <a:ext cx="0" cy="210312"/>
          </a:xfrm>
          <a:prstGeom prst="line">
            <a:avLst/>
          </a:prstGeom>
          <a:noFill/>
          <a:ln w="15875">
            <a:solidFill>
              <a:srgbClr val="D8DEE5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9806940" y="3566160"/>
            <a:ext cx="1737360" cy="1463040"/>
          </a:xfrm>
          <a:prstGeom prst="roundRect">
            <a:avLst>
              <a:gd name="adj" fmla="val 3750"/>
            </a:avLst>
          </a:prstGeom>
          <a:solidFill>
            <a:srgbClr val="F4F6F8"/>
          </a:solidFill>
          <a:ln w="12700">
            <a:solidFill>
              <a:srgbClr val="D8DE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16668" y="363931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W06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916668" y="3931920"/>
            <a:ext cx="151790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Validation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916668" y="4389120"/>
            <a:ext cx="1517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audits · clean release build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RESULT ANALYSIS &amp; VALIDATION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 Ingestion Test Log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71246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 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TVF62NE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Avoiding Collision: TVF62NE &amp; GPD437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N5043Z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EMERGENCY — Critical Landing Locked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UAL1510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Avoiding Collision: LPE2317 &amp; UAL1510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TVF6918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 Emergency Vector Path Logged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GPD437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Separation Angular Offsets Applied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LPE2317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F4B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Circular Descent Sequence Tracked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3566160" cy="896112"/>
          </a:xfrm>
          <a:prstGeom prst="roundRect">
            <a:avLst>
              <a:gd name="adj" fmla="val 6122"/>
            </a:avLst>
          </a:prstGeom>
          <a:solidFill>
            <a:srgbClr val="0B1D3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60527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20Hz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2103120" y="560527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visual refresh rate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51960" y="5532120"/>
            <a:ext cx="3566160" cy="896112"/>
          </a:xfrm>
          <a:prstGeom prst="roundRect">
            <a:avLst>
              <a:gd name="adj" fmla="val 6122"/>
            </a:avLst>
          </a:prstGeom>
          <a:solidFill>
            <a:srgbClr val="0B1D33"/>
          </a:solidFill>
          <a:ln/>
        </p:spPr>
      </p:sp>
      <p:sp>
        <p:nvSpPr>
          <p:cNvPr id="4" name="Text 6"/>
          <p:cNvSpPr/>
          <p:nvPr/>
        </p:nvSpPr>
        <p:spPr>
          <a:xfrm>
            <a:off x="4434840" y="560527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806440" y="560527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 lookup complexity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55280" y="5532120"/>
            <a:ext cx="3566160" cy="896112"/>
          </a:xfrm>
          <a:prstGeom prst="roundRect">
            <a:avLst>
              <a:gd name="adj" fmla="val 6122"/>
            </a:avLst>
          </a:prstGeom>
          <a:solidFill>
            <a:srgbClr val="0B1D33"/>
          </a:solidFill>
          <a:ln/>
        </p:spPr>
      </p:sp>
      <p:sp>
        <p:nvSpPr>
          <p:cNvPr id="12" name="Text 9"/>
          <p:cNvSpPr/>
          <p:nvPr/>
        </p:nvSpPr>
        <p:spPr>
          <a:xfrm>
            <a:off x="8138160" y="5605272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15px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9509760" y="560527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Geofenced danger threshold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F4B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Robust, Fault-Tolerant Radar Workspace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fully decoupling the graphical canvas from low-level mathematical validation, Mystigem avoids thread-locking under peak traffic while applying automated collision resolution instantly — without waiting on human operator latency.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112B47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310128"/>
            <a:ext cx="4846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visual and computational concerns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20Hz frame rate under dense simulated traffic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automated evasive course corrections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integrity across tracking caches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0760" y="2743200"/>
            <a:ext cx="5532120" cy="3291840"/>
          </a:xfrm>
          <a:prstGeom prst="roundRect">
            <a:avLst>
              <a:gd name="adj" fmla="val 2222"/>
            </a:avLst>
          </a:prstGeom>
          <a:solidFill>
            <a:srgbClr val="112B47"/>
          </a:solidFill>
          <a:ln w="19050">
            <a:solidFill>
              <a:srgbClr val="F5B9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5080" y="3310128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→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path projection across multi-sector flight maps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→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clustering for cross-region data sync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→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landing sequence optimization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1051560"/>
            <a:ext cx="4754880" cy="4754880"/>
          </a:xfrm>
          <a:prstGeom prst="ellipse">
            <a:avLst/>
          </a:prstGeom>
          <a:ln w="15875">
            <a:solidFill>
              <a:srgbClr val="2440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691640"/>
            <a:ext cx="3474720" cy="3474720"/>
          </a:xfrm>
          <a:prstGeom prst="ellipse">
            <a:avLst/>
          </a:prstGeom>
          <a:ln w="15875">
            <a:solidFill>
              <a:srgbClr val="2440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0" y="2331720"/>
            <a:ext cx="2194560" cy="2194560"/>
          </a:xfrm>
          <a:prstGeom prst="ellipse">
            <a:avLst/>
          </a:prstGeom>
          <a:ln w="15875">
            <a:solidFill>
              <a:srgbClr val="2440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12096" y="3374136"/>
            <a:ext cx="109728" cy="109728"/>
          </a:xfrm>
          <a:prstGeom prst="ellipse">
            <a:avLst/>
          </a:prstGeom>
          <a:solidFill>
            <a:srgbClr val="F5B94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318211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3657600" cy="22860"/>
          </a:xfrm>
          <a:prstGeom prst="rect">
            <a:avLst/>
          </a:prstGeom>
          <a:solidFill>
            <a:srgbClr val="2A466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Amarjeet Kumar  ·  25MCA20155
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 University, Mohali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983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2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github.com/amarjeet041/HYBRID-AIR-TRAFFIC-CONTROL-AND-RADAR-
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HackerRank: </a:t>
            </a:r>
            <a:r>
              <a:rPr lang="en-US" sz="12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hackerrank.com/profile/kramarjeet489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757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909</Words>
  <Application>Microsoft Office PowerPoint</Application>
  <PresentationFormat>Widescreen</PresentationFormat>
  <Paragraphs>220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AMARJEET KUMAR</cp:lastModifiedBy>
  <cp:revision>2</cp:revision>
  <dcterms:created xsi:type="dcterms:W3CDTF">2026-07-14T04:45:56Z</dcterms:created>
  <dcterms:modified xsi:type="dcterms:W3CDTF">2026-07-14T06:06:40Z</dcterms:modified>
</cp:coreProperties>
</file>